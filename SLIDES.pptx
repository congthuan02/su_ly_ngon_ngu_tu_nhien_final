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Chatbot Quản lý &amp; Nhắc nhở Công việc bằng NLP Tiếng Việt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Đồ án cuối kỳ — Môn Xử lý Ngôn ngữ Tự nhiên</a:t>
            </a:r>
            <a:br/>
            <a:br/>
            <a:r>
              <a:rPr/>
              <a:t>Hoàng Thuận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Mở đầu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Bài toán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Quản lý công việc bằng app to-do truyền thống → nhiều thao tác thủ công</a:t>
            </a:r>
          </a:p>
          <a:p>
            <a:pPr lvl="0"/>
            <a:r>
              <a:rPr/>
              <a:t>Người dùng phổ thông và người lớn tuổi gặp khó khăn</a:t>
            </a:r>
          </a:p>
          <a:p>
            <a:pPr lvl="0"/>
            <a:r>
              <a:rPr b="1"/>
              <a:t>Giải pháp:</a:t>
            </a:r>
            <a:r>
              <a:rPr/>
              <a:t> giao tiếp bằng câu nói tiếng Việt tự nhiên</a:t>
            </a:r>
          </a:p>
          <a:p>
            <a:pPr lvl="1"/>
            <a:r>
              <a:rPr i="1"/>
              <a:t>“nhắc tôi họp 3 giờ chiều mai”</a:t>
            </a:r>
          </a:p>
          <a:p>
            <a:pPr lvl="1"/>
            <a:r>
              <a:rPr i="1"/>
              <a:t>“xóa hết công việc đi”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Mục tiêu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Xây dựng chatbot tiếng Việt cho </a:t>
            </a:r>
            <a:r>
              <a:rPr b="1"/>
              <a:t>34 ý định</a:t>
            </a:r>
            <a:r>
              <a:rPr/>
              <a:t> quản lý công việc</a:t>
            </a:r>
          </a:p>
          <a:p>
            <a:pPr lvl="0" indent="-342900" marL="342900">
              <a:buAutoNum type="arabicPeriod"/>
            </a:pPr>
            <a:r>
              <a:rPr/>
              <a:t>So sánh </a:t>
            </a:r>
            <a:r>
              <a:rPr b="1"/>
              <a:t>2 mô hình NLP</a:t>
            </a:r>
            <a:r>
              <a:rPr/>
              <a:t>: BiLSTM tự train + PhoBERT fine-tune</a:t>
            </a:r>
          </a:p>
          <a:p>
            <a:pPr lvl="0" indent="-342900" marL="342900">
              <a:buAutoNum type="arabicPeriod"/>
            </a:pPr>
            <a:r>
              <a:rPr/>
              <a:t>Đề xuất </a:t>
            </a:r>
            <a:r>
              <a:rPr b="1"/>
              <a:t>kiến trúc 3 tầng</a:t>
            </a:r>
            <a:r>
              <a:rPr/>
              <a:t> kết hợp 2 mô hình</a:t>
            </a:r>
          </a:p>
          <a:p>
            <a:pPr lvl="0" indent="-342900" marL="342900">
              <a:buAutoNum type="arabicPeriod"/>
            </a:pPr>
            <a:r>
              <a:rPr/>
              <a:t>Triển khai end-to-end: Backend FastAPI + App Flutter (iOS / Android / Web)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Phạm 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Ngôn ngữ:</a:t>
            </a:r>
            <a:r>
              <a:rPr/>
              <a:t> tiếng Việt</a:t>
            </a:r>
          </a:p>
          <a:p>
            <a:pPr lvl="0"/>
            <a:r>
              <a:rPr b="1"/>
              <a:t>Domain:</a:t>
            </a:r>
            <a:r>
              <a:rPr/>
              <a:t> quản lý công việc cá nhân (CRUD, nhắc nhở, tìm kiếm, thống kê)</a:t>
            </a:r>
          </a:p>
          <a:p>
            <a:pPr lvl="0"/>
            <a:r>
              <a:rPr b="1"/>
              <a:t>Đơn người dùng</a:t>
            </a:r>
            <a:r>
              <a:rPr/>
              <a:t> mỗi phiên (single-user-per-session)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Cơ sở lý thuyết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Hai bài toán nền tảng của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Phân loại ý định (Intent Classification)</a:t>
            </a:r>
            <a:r>
              <a:rPr/>
              <a:t> - Đầu vào: câu tiếng Việt - Đầu ra: 1 nhãn trong 34 ý định - Bài toán phân loại văn bản đa lớp</a:t>
            </a:r>
          </a:p>
          <a:p>
            <a:pPr lvl="0" indent="0" marL="0">
              <a:buNone/>
            </a:pPr>
            <a:r>
              <a:rPr b="1"/>
              <a:t>2. Trích xuất thực thể (Entity Extraction)</a:t>
            </a:r>
            <a:r>
              <a:rPr/>
              <a:t> - </a:t>
            </a:r>
            <a:r>
              <a:rPr>
                <a:latin typeface="Courier"/>
              </a:rPr>
              <a:t>task_name</a:t>
            </a:r>
            <a:r>
              <a:rPr/>
              <a:t> — tên công việc - </a:t>
            </a:r>
            <a:r>
              <a:rPr>
                <a:latin typeface="Courier"/>
              </a:rPr>
              <a:t>time</a:t>
            </a:r>
            <a:r>
              <a:rPr/>
              <a:t> — thời gian - </a:t>
            </a:r>
            <a:r>
              <a:rPr>
                <a:latin typeface="Courier"/>
              </a:rPr>
              <a:t>status</a:t>
            </a:r>
            <a:r>
              <a:rPr/>
              <a:t> — trạng thái lọc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Mô hình BiLSTM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Long Short-Term Memory</a:t>
            </a:r>
            <a:r>
              <a:rPr/>
              <a:t> — RNN có cổng (Hochreiter &amp; Schmidhuber, 1997)</a:t>
            </a:r>
          </a:p>
          <a:p>
            <a:pPr lvl="0"/>
            <a:r>
              <a:rPr b="1"/>
              <a:t>Bi-directional</a:t>
            </a:r>
            <a:r>
              <a:rPr/>
              <a:t>: đọc câu cả hai chiều</a:t>
            </a:r>
          </a:p>
          <a:p>
            <a:pPr lvl="0"/>
            <a:r>
              <a:rPr/>
              <a:t>Phù hợp dataset nhỏ–trung bình</a:t>
            </a:r>
          </a:p>
          <a:p>
            <a:pPr lvl="0"/>
            <a:r>
              <a:rPr/>
              <a:t>Inference nhanh, không cần GPU</a:t>
            </a:r>
          </a:p>
          <a:p>
            <a:pPr lvl="0" indent="0">
              <a:buNone/>
            </a:pPr>
            <a:r>
              <a:rPr>
                <a:latin typeface="Courier"/>
              </a:rPr>
              <a:t>Token ids → Embedding → BiLSTM → Dense → Softmax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Mô hình PhoBERT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BERT pre-trained chuyên cho </a:t>
            </a:r>
            <a:r>
              <a:rPr b="1"/>
              <a:t>tiếng Việt</a:t>
            </a:r>
            <a:r>
              <a:rPr/>
              <a:t> (VinAI, 2020)</a:t>
            </a:r>
          </a:p>
          <a:p>
            <a:pPr lvl="0"/>
            <a:r>
              <a:rPr/>
              <a:t>Train trên 20GB văn bản tiếng Việt</a:t>
            </a:r>
          </a:p>
          <a:p>
            <a:pPr lvl="0"/>
            <a:r>
              <a:rPr/>
              <a:t>Kiến trúc RoBERTa-base, 135M tham số</a:t>
            </a:r>
          </a:p>
          <a:p>
            <a:pPr lvl="0"/>
            <a:r>
              <a:rPr/>
              <a:t>Dùng VnCoreNLP để tách từ → SentencePiece BPE</a:t>
            </a:r>
          </a:p>
          <a:p>
            <a:pPr lvl="0"/>
            <a:r>
              <a:rPr/>
              <a:t>Fine-tune classifier head trên dataset domain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Phương pháp đề xuất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Kiến trúc tổng thể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┌──────────────────────────────────┐
│  Flutter App (iOS/Android/Web)   │
└────────────┬─────────────────────┘
             │ HTTP / JSON
┌────────────┴─────────────────────┐
│  FastAPI Backend                 │
│   ├─ POST /chat → NLP 3 tầng     │
│   ├─ CRUD /tasks → SQLite        │
│   └─ pending_actions middleware  │
└──────────────────────────────────┘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 tự xây dựng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Tập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Số mẫu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996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Tổng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1.117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34 ý định, chia 9 nhóm chức năng</a:t>
            </a:r>
          </a:p>
          <a:p>
            <a:pPr lvl="0"/>
            <a:r>
              <a:rPr/>
              <a:t>Mỗi mẫu là cặp </a:t>
            </a:r>
            <a:r>
              <a:rPr>
                <a:latin typeface="Courier"/>
              </a:rPr>
              <a:t>(text, intent)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 nhóm ý định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Ví dụ intent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Chào hỏi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greeting, goodbye, thank_you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task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create_task, delete_task, list_tasks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Tìm kiếm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search_task, sort_tasks, task_detail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Quản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deadline_management, priority_management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Thời gian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task_today, task_overdue, task_upcoming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Nhắc nhở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reminder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Hàng loạt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delete_all_tasks, confirm_delete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Thống kê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Cảm xúc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feeling_overwhelmed, motivation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Pipeline tiền xử lý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Câu thô
   ↓
Lowercase
   ↓
underthesea.word_tokenize  ← tách từ tiếng Việt
   ↓
Loại ký tự đặc biệt
   ↓
text_to_sequence (pad/truncate đến 30 token)
   ↓
Tensor đầu vào mô hình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BiLSTM — siêu tham số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Tham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Giá trị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Vocab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Embedding dim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Hidden dim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Số lớp LSTM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Dropout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length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Threshold tin cậy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0.85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Kích thước file: ~11 MB · Inference &lt; 5 ms/câu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PhoBERT — cấu hình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Tham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Giá trị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Backbone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vinai/phobert-base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Hidden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Số tham số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~135 triệu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Threshold tin cậy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0.60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Kích thước file: ~515 MB · Inference 50–100 ms/câu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Đóng góp chính: Kiến trúc 3 tầng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Câu đầu vào
                  ↓
         ┌────────────────┐
         │ Tầng 1: BiLSTM │
         └────────┬───────┘
                  │
         conf ≥ 0.85 ?
            ╱         ╲
          Có            Không
          ↓               ↓
       Trả về      ┌────────────┐
        LSTM       │ Tầng 2:    │
                   │ PhoBERT    │
                   └─────┬──────┘
                         │
                conf ≥ 0.60 ?
                   ╱        ╲
                 Có           Không
                 ↓              ↓
              Trả về       Tầng 3: chọn
              PhoBERT      conf cao hơn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Logic 3 tầng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predict_intent(text):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Tầng 1: LSTM nhanh</a:t>
            </a:r>
            <a:br/>
            <a:r>
              <a:rPr>
                <a:latin typeface="Courier"/>
              </a:rPr>
              <a:t>    lstm_tag, lstm_conf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predict_lstm(text)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lstm_conf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0.85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lstm_tag, </a:t>
            </a:r>
            <a:r>
              <a:rPr>
                <a:solidFill>
                  <a:srgbClr val="4070A0"/>
                </a:solidFill>
                <a:latin typeface="Courier"/>
              </a:rPr>
              <a:t>"LSTM"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Tầng 2: PhoBERT chính xác hơn</a:t>
            </a:r>
            <a:br/>
            <a:r>
              <a:rPr>
                <a:latin typeface="Courier"/>
              </a:rPr>
              <a:t>    phobert_tag, phobert_conf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predict_phobert(text)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phobert_conf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0.60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phobert_tag, </a:t>
            </a:r>
            <a:r>
              <a:rPr>
                <a:solidFill>
                  <a:srgbClr val="4070A0"/>
                </a:solidFill>
                <a:latin typeface="Courier"/>
              </a:rPr>
              <a:t>"PhoBERT"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Tầng 3: chọn confidence cao hơn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best_of(lstm, phobert), </a:t>
            </a:r>
            <a:r>
              <a:rPr>
                <a:solidFill>
                  <a:srgbClr val="4070A0"/>
                </a:solidFill>
                <a:latin typeface="Courier"/>
              </a:rPr>
              <a:t>"low"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Vì sao 3 tầng?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Đa số câu</a:t>
            </a:r>
            <a:r>
              <a:rPr/>
              <a:t> trong giao tiếp là rõ ràng → LSTM xử lý là đủ và nhanh</a:t>
            </a:r>
          </a:p>
          <a:p>
            <a:pPr lvl="0"/>
            <a:r>
              <a:rPr/>
              <a:t>Câu khó, paraphrase, từ vựng hiếm → PhoBERT</a:t>
            </a:r>
          </a:p>
          <a:p>
            <a:pPr lvl="0"/>
            <a:r>
              <a:rPr/>
              <a:t>Cả hai không tự tin → đánh dấu “low” để fallback an toàn</a:t>
            </a:r>
          </a:p>
          <a:p>
            <a:pPr lvl="0"/>
            <a:r>
              <a:rPr b="1"/>
              <a:t>Cân bằng tốt</a:t>
            </a:r>
            <a:r>
              <a:rPr/>
              <a:t> giữa </a:t>
            </a:r>
            <a:r>
              <a:rPr b="1"/>
              <a:t>latency</a:t>
            </a:r>
            <a:r>
              <a:rPr/>
              <a:t> và </a:t>
            </a:r>
            <a:r>
              <a:rPr b="1"/>
              <a:t>accuracy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Trích xuất thực thể (rule-based)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Thời gian — regex:</a:t>
            </a:r>
            <a:r>
              <a:rPr/>
              <a:t> - “ngày 25/4”, “lúc 3 giờ chiều”, “ngày mai”, “tuần sau”</a:t>
            </a:r>
          </a:p>
          <a:p>
            <a:pPr lvl="0" indent="0" marL="0">
              <a:buNone/>
            </a:pPr>
            <a:r>
              <a:rPr b="1"/>
              <a:t>Tên công việc — trigger keyword:</a:t>
            </a:r>
          </a:p>
          <a:p>
            <a:pPr lvl="0" indent="0">
              <a:buNone/>
            </a:pPr>
            <a:r>
              <a:rPr>
                <a:latin typeface="Courier"/>
              </a:rPr>
              <a:t>"thêm công việc họp nhóm vào 3 giờ chiều mai"
        ↓ trigger: "thêm công việc"
"họp nhóm vào 3 giờ chiều mai"
        ↓ loại pattern thời gian
"họp nhóm"  ✓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Cải tiến: chia sẻ 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Vấn đề phát hiện trong thực nghiệm:</a:t>
            </a:r>
          </a:p>
          <a:p>
            <a:pPr lvl="0" indent="0" marL="1270000">
              <a:buNone/>
            </a:pPr>
            <a:r>
              <a:rPr sz="2000"/>
              <a:t>“Tạo nhắc nhở: ngày mai bắt đầu đi làm lại”</a:t>
            </a:r>
          </a:p>
          <a:p>
            <a:pPr lvl="0" indent="0" marL="0">
              <a:buNone/>
            </a:pPr>
            <a:r>
              <a:rPr/>
              <a:t>→ LSTM phân loại </a:t>
            </a:r>
            <a:r>
              <a:rPr>
                <a:latin typeface="Courier"/>
              </a:rPr>
              <a:t>create_task</a:t>
            </a:r>
            <a:r>
              <a:rPr/>
              <a:t> (do từ “tạo”) → Nhưng trigger list của </a:t>
            </a:r>
            <a:r>
              <a:rPr>
                <a:latin typeface="Courier"/>
              </a:rPr>
              <a:t>create_task</a:t>
            </a:r>
            <a:r>
              <a:rPr/>
              <a:t> không có “tạo nhắc nhở” → task_name </a:t>
            </a:r>
            <a:r>
              <a:rPr b="1"/>
              <a:t>bị bỏ trống</a:t>
            </a:r>
          </a:p>
          <a:p>
            <a:pPr lvl="0" indent="0" marL="0">
              <a:buNone/>
            </a:pPr>
            <a:r>
              <a:rPr b="1"/>
              <a:t>Giải pháp:</a:t>
            </a:r>
            <a:r>
              <a:rPr/>
              <a:t> nhóm intent họ hàng </a:t>
            </a:r>
            <a:r>
              <a:rPr>
                <a:latin typeface="Courier"/>
              </a:rPr>
              <a:t>{create_task, set_reminder, ...}</a:t>
            </a:r>
            <a:r>
              <a:rPr/>
              <a:t> chia sẻ chung trigger pool, sắp xếp theo độ dài giảm dần để khớp chính xác nhất.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Quản lý hội thoại — pending_actions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User:  "xóa hết công việc đi"
Bot:   "Bạn có chắc muốn xóa toàn bộ?"
       → pending_actions[user_id] = "delete_all"
User:  "có"
Bot:   → kiểm tra pending trước khi gọi NLP
       → thực thi xóa
       → "Đã xóa N công việc."</a:t>
            </a:r>
          </a:p>
          <a:p>
            <a:pPr lvl="0" indent="0" marL="0">
              <a:buNone/>
            </a:pPr>
            <a:r>
              <a:rPr/>
              <a:t>Tránh người dùng vô ý kích hoạt thao tác phá hủy.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Kết quả thực nghiệm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case — đã kiểm thử thực tế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2628900"/>
                <a:gridCol w="1981200"/>
                <a:gridCol w="1981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Câu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Tầng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Tạo nhắc nhở: ngày mai bắt đầu đi làm lại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create_task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LSTM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thêm công việc họp nhóm 3 giờ chiều mai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create_task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≈0.99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LSTM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xem công việc chưa hoàn thành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list_tasks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≈0.95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LSTM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việc nào quan trọng nhất hôm nay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priority_mgmt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≈0.7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PhoBERT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Phân bố tỷ lệ sử dụng các tầng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Tầng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Tỷ lệ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Tầng 1 — LSTM (≥ 0.85)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70 – 80 %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Tầng 2 — PhoBERT (≥ 0.60)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– 15 %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Tầng 3 — Fallback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10 %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→ Đa số câu được xử lý nhanh tại tầng 1 → Chỉ kích hoạt PhoBERT khi cần → Giảm chi phí tính toán đáng kể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ứng dụng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Màn hình </a:t>
            </a:r>
            <a:r>
              <a:rPr b="1"/>
              <a:t>Chat</a:t>
            </a:r>
            <a:r>
              <a:rPr/>
              <a:t>: bubble chat, suggestion chips</a:t>
            </a:r>
          </a:p>
          <a:p>
            <a:pPr lvl="0"/>
            <a:r>
              <a:rPr/>
              <a:t>Màn hình </a:t>
            </a:r>
            <a:r>
              <a:rPr b="1"/>
              <a:t>Công việc</a:t>
            </a:r>
            <a:r>
              <a:rPr/>
              <a:t>: 2 tab Chưa xong / Đã xong</a:t>
            </a:r>
          </a:p>
          <a:p>
            <a:pPr lvl="0"/>
            <a:r>
              <a:rPr/>
              <a:t>Màn hình </a:t>
            </a:r>
            <a:r>
              <a:rPr b="1"/>
              <a:t>Đăng nhập</a:t>
            </a:r>
            <a:r>
              <a:rPr/>
              <a:t> (lưu SharedPreferences)</a:t>
            </a:r>
          </a:p>
          <a:p>
            <a:pPr lvl="0"/>
            <a:r>
              <a:rPr/>
              <a:t>Màn hình </a:t>
            </a:r>
            <a:r>
              <a:rPr b="1"/>
              <a:t>Cài đặt</a:t>
            </a:r>
          </a:p>
          <a:p>
            <a:pPr lvl="0" indent="0" marL="0">
              <a:buNone/>
            </a:pPr>
            <a:r>
              <a:rPr i="1"/>
              <a:t>[Chèn screenshot tại đây khi thuyết trình]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Kết luận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Kết quả đạt được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✓ Dataset 1.117 mẫu, 34 intent</a:t>
            </a:r>
          </a:p>
          <a:p>
            <a:pPr lvl="0"/>
            <a:r>
              <a:rPr/>
              <a:t>✓ Huấn luyện thành công BiLSTM + PhoBERT</a:t>
            </a:r>
          </a:p>
          <a:p>
            <a:pPr lvl="0"/>
            <a:r>
              <a:rPr/>
              <a:t>✓ </a:t>
            </a:r>
            <a:r>
              <a:rPr b="1"/>
              <a:t>Kiến trúc 3 tầng</a:t>
            </a:r>
            <a:r>
              <a:rPr/>
              <a:t> đạt cân bằng latency/accuracy</a:t>
            </a:r>
          </a:p>
          <a:p>
            <a:pPr lvl="0"/>
            <a:r>
              <a:rPr/>
              <a:t>✓ Triển khai end-to-end iOS/Android/Web</a:t>
            </a:r>
          </a:p>
          <a:p>
            <a:pPr lvl="0"/>
            <a:r>
              <a:rPr/>
              <a:t>✓ Khắc phục lỗi trích xuất tên cho câu lai create/reminder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Hạn chế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Dataset còn nhỏ (~1.000 mẫu) → một số intent ít mẫu accuracy thấp</a:t>
            </a:r>
          </a:p>
          <a:p>
            <a:pPr lvl="0"/>
            <a:r>
              <a:rPr/>
              <a:t>Entity extraction rule-based → khó scale</a:t>
            </a:r>
          </a:p>
          <a:p>
            <a:pPr lvl="0"/>
            <a:r>
              <a:rPr/>
              <a:t>Không có </a:t>
            </a:r>
            <a:r>
              <a:rPr b="1"/>
              <a:t>context history</a:t>
            </a:r>
            <a:r>
              <a:rPr/>
              <a:t> đa lượt</a:t>
            </a:r>
          </a:p>
          <a:p>
            <a:pPr lvl="0"/>
            <a:r>
              <a:rPr/>
              <a:t>Chỉ hỗ trợ </a:t>
            </a:r>
            <a:r>
              <a:rPr b="1"/>
              <a:t>single-user-per-session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Mở rộng dataset lên 5.000+ qua back-translation</a:t>
            </a:r>
          </a:p>
          <a:p>
            <a:pPr lvl="0" indent="-342900" marL="342900">
              <a:buAutoNum type="arabicPeriod"/>
            </a:pPr>
            <a:r>
              <a:rPr/>
              <a:t>Thay rule-based bằng </a:t>
            </a:r>
            <a:r>
              <a:rPr b="1"/>
              <a:t>NER có học</a:t>
            </a:r>
            <a:r>
              <a:rPr/>
              <a:t> (BiLSTM-CRF, PhoBERT-NER)</a:t>
            </a:r>
          </a:p>
          <a:p>
            <a:pPr lvl="0" indent="-342900" marL="342900">
              <a:buAutoNum type="arabicPeriod"/>
            </a:pPr>
            <a:r>
              <a:rPr b="1"/>
              <a:t>Dialogue state tracking</a:t>
            </a:r>
            <a:r>
              <a:rPr/>
              <a:t> cho tham chiếu đa lượt</a:t>
            </a:r>
          </a:p>
          <a:p>
            <a:pPr lvl="0" indent="-342900" marL="342900">
              <a:buAutoNum type="arabicPeriod"/>
            </a:pPr>
            <a:r>
              <a:rPr/>
              <a:t>Push notification thực sự (Firebase) cho </a:t>
            </a:r>
            <a:r>
              <a:rPr>
                <a:latin typeface="Courier"/>
              </a:rPr>
              <a:t>reminder</a:t>
            </a:r>
          </a:p>
          <a:p>
            <a:pPr lvl="0" indent="-342900" marL="342900">
              <a:buAutoNum type="arabicPeriod"/>
            </a:pPr>
            <a:r>
              <a:rPr/>
              <a:t>Voice input (Speech-to-Text tiếng Việt)</a:t>
            </a:r>
          </a:p>
          <a:p>
            <a:pPr lvl="0" indent="-342900" marL="342900">
              <a:buAutoNum type="arabicPeriod"/>
            </a:pPr>
            <a:r>
              <a:rPr/>
              <a:t>Đa người dùng + JWT + Redis pending_actions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Cảm ơn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Câu hỏi &amp; Thảo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Liên hệ:</a:t>
            </a:r>
            <a:r>
              <a:rPr/>
              <a:t> - GitHub: … - Email: …</a:t>
            </a:r>
          </a:p>
          <a:p>
            <a:pPr lvl="0" indent="0" marL="0">
              <a:buNone/>
            </a:pPr>
            <a:r>
              <a:rPr b="1" i="1"/>
              <a:t>Em xin chân thành cảm ơn quý thầy cô đã lắng nghe!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Quản lý &amp; Nhắc nhở Công việc bằng NLP Tiếng Việt</dc:title>
  <dc:creator>Hoàng Thuận</dc:creator>
  <cp:keywords/>
  <dcterms:created xsi:type="dcterms:W3CDTF">2026-04-27T04:21:03Z</dcterms:created>
  <dcterms:modified xsi:type="dcterms:W3CDTF">2026-04-27T04:21:03Z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Đồ án cuối kỳ — Môn Xử lý Ngôn ngữ Tự nhiên</vt:lpwstr>
  </property>
</Properties>
</file>